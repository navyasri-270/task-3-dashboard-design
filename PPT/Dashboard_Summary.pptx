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A8E8"/>
                </a:solidFill>
              </a:defRPr>
            </a:pPr>
            <a:r>
              <a:t>BUSINESS INTELLIGENCE REPORT</a:t>
            </a:r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t>Interactive Business Dashboard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Sales Financial Dataset Performance Overview</a:t>
            </a:r>
          </a:p>
          <a:p>
            <a:br/>
            <a:pPr>
              <a:defRPr sz="1200">
                <a:solidFill>
                  <a:srgbClr val="8D99AE"/>
                </a:solidFill>
              </a:defRPr>
            </a:pPr>
            <a:r>
              <a:t>Prepared by: AntiGravity BI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B66"/>
          </a:solidFill>
          <a:ln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E8"/>
                </a:solidFill>
              </a:defRPr>
            </a:pPr>
            <a:r>
              <a:t>SALES FINANCIAL ANALYSIS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Project Objectives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b="1" sz="1600">
                <a:solidFill>
                  <a:srgbClr val="0D3B66"/>
                </a:solidFill>
              </a:rPr>
              <a:t>•  Executive Goal: </a:t>
            </a:r>
            <a:r>
              <a:rPr sz="1500">
                <a:solidFill>
                  <a:srgbClr val="2B2D42"/>
                </a:solidFill>
              </a:rPr>
              <a:t>Provide an interactive executive-level Business Dashboard to monitor sales, profit, order volume, and profit margins in real-time.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0D3B66"/>
                </a:solidFill>
              </a:rPr>
              <a:t>•  Interactive Data Exploration: </a:t>
            </a:r>
            <a:r>
              <a:rPr sz="1500">
                <a:solidFill>
                  <a:srgbClr val="2B2D42"/>
                </a:solidFill>
              </a:rPr>
              <a:t>Equip decision-makers with slicers (Year, Region, Category, Segment) to perform deep-dives into specific business segments.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0D3B66"/>
                </a:solidFill>
              </a:rPr>
              <a:t>•  Visual Storytelling: </a:t>
            </a:r>
            <a:r>
              <a:rPr sz="1500">
                <a:solidFill>
                  <a:srgbClr val="2B2D42"/>
                </a:solidFill>
              </a:rPr>
              <a:t>Implement professional Power BI charts (Sales Trend, Category Profit, Regional Donut, Top 10 Products) to communicate sales patterns clearly.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0D3B66"/>
                </a:solidFill>
              </a:rPr>
              <a:t>•  Data-Driven Action: </a:t>
            </a:r>
            <a:r>
              <a:rPr sz="1500">
                <a:solidFill>
                  <a:srgbClr val="2B2D42"/>
                </a:solidFill>
              </a:rPr>
              <a:t>Translate sales statistics into actionable business insights to boost underperforming categories and optimize geographical logistics.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B66"/>
          </a:solidFill>
          <a:ln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E8"/>
                </a:solidFill>
              </a:defRPr>
            </a:pPr>
            <a:r>
              <a:t>SALES FINANCIAL ANALYSIS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Key Performance Indicators (KPIs)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D3B66"/>
                </a:solidFill>
              </a:defRPr>
            </a:pPr>
            <a:r>
              <a:t>Dashboard KPIs Summary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2B2D42"/>
                </a:solidFill>
              </a:rPr>
              <a:t>Total Sales: </a:t>
            </a:r>
            <a:r>
              <a:rPr b="1" sz="1400">
                <a:solidFill>
                  <a:srgbClr val="00AFB9"/>
                </a:solidFill>
              </a:rPr>
              <a:t>$1,134,212.70 </a:t>
            </a:r>
            <a:r>
              <a:rPr i="1" sz="1100">
                <a:solidFill>
                  <a:srgbClr val="8D99AE"/>
                </a:solidFill>
              </a:rPr>
              <a:t>(Healthy baseline across all segments)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2B2D42"/>
                </a:solidFill>
              </a:rPr>
              <a:t>Total Profit: </a:t>
            </a:r>
            <a:r>
              <a:rPr b="1" sz="1400">
                <a:solidFill>
                  <a:srgbClr val="00AFB9"/>
                </a:solidFill>
              </a:rPr>
              <a:t>$219,339.05 </a:t>
            </a:r>
            <a:r>
              <a:rPr i="1" sz="1100">
                <a:solidFill>
                  <a:srgbClr val="8D99AE"/>
                </a:solidFill>
              </a:rPr>
              <a:t>(Driven strongly by Technology division)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2B2D42"/>
                </a:solidFill>
              </a:rPr>
              <a:t>Total Orders: </a:t>
            </a:r>
            <a:r>
              <a:rPr b="1" sz="1400">
                <a:solidFill>
                  <a:srgbClr val="00AFB9"/>
                </a:solidFill>
              </a:rPr>
              <a:t>1,500 </a:t>
            </a:r>
            <a:r>
              <a:rPr i="1" sz="1100">
                <a:solidFill>
                  <a:srgbClr val="8D99AE"/>
                </a:solidFill>
              </a:rPr>
              <a:t>(Volume distribution reflects high retail traffic)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2B2D42"/>
                </a:solidFill>
              </a:rPr>
              <a:t>Average Profit: </a:t>
            </a:r>
            <a:r>
              <a:rPr b="1" sz="1400">
                <a:solidFill>
                  <a:srgbClr val="00AFB9"/>
                </a:solidFill>
              </a:rPr>
              <a:t>$146.23 </a:t>
            </a:r>
            <a:r>
              <a:rPr i="1" sz="1100">
                <a:solidFill>
                  <a:srgbClr val="8D99AE"/>
                </a:solidFill>
              </a:rPr>
              <a:t>(Net profit per item ordered)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2B2D42"/>
                </a:solidFill>
              </a:rPr>
              <a:t>Profit Margin: </a:t>
            </a:r>
            <a:r>
              <a:rPr b="1" sz="1400">
                <a:solidFill>
                  <a:srgbClr val="00AFB9"/>
                </a:solidFill>
              </a:rPr>
              <a:t>19.3% </a:t>
            </a:r>
            <a:r>
              <a:rPr i="1" sz="1100">
                <a:solidFill>
                  <a:srgbClr val="8D99AE"/>
                </a:solidFill>
              </a:rPr>
              <a:t>(Solid financial health and product pricing)</a:t>
            </a:r>
          </a:p>
        </p:txBody>
      </p:sp>
      <p:pic>
        <p:nvPicPr>
          <p:cNvPr id="5" name="Picture 4" descr="Dashboard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5836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B66"/>
          </a:solidFill>
          <a:ln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E8"/>
                </a:solidFill>
              </a:defRPr>
            </a:pPr>
            <a:r>
              <a:t>SALES FINANCIAL ANALYSIS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Dashboard Visualizations &amp; Interactive Filtering</a:t>
            </a:r>
          </a:p>
        </p:txBody>
      </p:sp>
      <p:pic>
        <p:nvPicPr>
          <p:cNvPr id="4" name="Picture 3" descr="Fil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D3B66"/>
                </a:solidFill>
              </a:defRPr>
            </a:pPr>
            <a:r>
              <a:t>Interactive Features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D3B66"/>
                </a:solidFill>
              </a:rPr>
              <a:t>• Multi-Dimensional Slicers
</a:t>
            </a:r>
            <a:r>
              <a:rPr sz="1200">
                <a:solidFill>
                  <a:srgbClr val="2B2D42"/>
                </a:solidFill>
              </a:rPr>
              <a:t>Users can filter the report by Year, Region, Category, and Segment to drill down instantly.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D3B66"/>
                </a:solidFill>
              </a:rPr>
              <a:t>• Cross-Filtering Visuals
</a:t>
            </a:r>
            <a:r>
              <a:rPr sz="1200">
                <a:solidFill>
                  <a:srgbClr val="2B2D42"/>
                </a:solidFill>
              </a:rPr>
              <a:t>Selecting data in any visual dynamically filters all other elements on the dashboard (demonstrated in the filtered screenshot to the left).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D3B66"/>
                </a:solidFill>
              </a:rPr>
              <a:t>• Focused Sub-reports
</a:t>
            </a:r>
            <a:r>
              <a:rPr sz="1200">
                <a:solidFill>
                  <a:srgbClr val="2B2D42"/>
                </a:solidFill>
              </a:rPr>
              <a:t>Detailed layouts for Sales Trend and Profit Analysis let analysts export specific figures for deep-dive reporting.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3B66"/>
          </a:solidFill>
          <a:ln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E8"/>
                </a:solidFill>
              </a:defRPr>
            </a:pPr>
            <a:r>
              <a:t>SALES FINANCIAL ANALYSIS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Business Insights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D3B66"/>
                </a:solidFill>
              </a:defRPr>
            </a:pPr>
            <a:r>
              <a:t>Key Findings &amp; Recommendations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D3B66"/>
                </a:solidFill>
              </a:rPr>
              <a:t>✔  Technology Leads Profitability: </a:t>
            </a:r>
            <a:r>
              <a:rPr sz="1300">
                <a:solidFill>
                  <a:srgbClr val="2B2D42"/>
                </a:solidFill>
              </a:rPr>
              <a:t>Technology products contribute the highest profit margins (35% base margins), with Copiers and Phones dominating sales volume.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D3B66"/>
                </a:solidFill>
              </a:rPr>
              <a:t>✔  Geographical Performance: </a:t>
            </a:r>
            <a:r>
              <a:rPr sz="1300">
                <a:solidFill>
                  <a:srgbClr val="2B2D42"/>
                </a:solidFill>
              </a:rPr>
              <a:t>The East and West regions represent the major sales drivers. Targeted promotional campaigns are recommended in the South region to tap into underutilized markets.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D3B66"/>
                </a:solidFill>
              </a:rPr>
              <a:t>✔  Furniture Discounting Constraints: </a:t>
            </a:r>
            <a:r>
              <a:rPr sz="1300">
                <a:solidFill>
                  <a:srgbClr val="2B2D42"/>
                </a:solidFill>
              </a:rPr>
              <a:t>Furniture yields a lower net profit due to high shipping costs and frequent discounting. Recommended to revise the discount cap for Furniture tables and chairs to protect margin lines.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D3B66"/>
                </a:solidFill>
              </a:rPr>
              <a:t>✔  Actionable Next Steps: </a:t>
            </a:r>
            <a:r>
              <a:rPr sz="1300">
                <a:solidFill>
                  <a:srgbClr val="2B2D42"/>
                </a:solidFill>
              </a:rPr>
              <a:t>Utilize the dashboard weekly to identify top-performing SKUs and optimize logistics planning based on regional demand signals.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